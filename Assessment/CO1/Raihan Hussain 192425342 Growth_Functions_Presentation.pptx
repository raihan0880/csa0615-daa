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libri"/>
              </a:rPr>
              <a:t>f(n) vs. Input Size 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O(log n)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0.0001</c:v>
                </c:pt>
                <c:pt idx="1">
                  <c:v>1</c:v>
                </c:pt>
                <c:pt idx="2">
                  <c:v>2</c:v>
                </c:pt>
                <c:pt idx="3">
                  <c:v>2.584962500721156</c:v>
                </c:pt>
                <c:pt idx="4">
                  <c:v>3</c:v>
                </c:pt>
                <c:pt idx="5">
                  <c:v>3.321928094887362</c:v>
                </c:pt>
                <c:pt idx="6">
                  <c:v>3.584962500721156</c:v>
                </c:pt>
                <c:pt idx="7">
                  <c:v>3.807354922057604</c:v>
                </c:pt>
                <c:pt idx="8">
                  <c:v>4</c:v>
                </c:pt>
                <c:pt idx="9">
                  <c:v>4.169925001442312</c:v>
                </c:pt>
                <c:pt idx="10">
                  <c:v>4.321928094887363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O(n)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O(n log n)</c:v>
                </c:pt>
              </c:strCache>
            </c:strRef>
          </c:tx>
          <c:spPr>
            <a:solidFill>
              <a:srgbClr val="21295C"/>
            </a:solidFill>
            <a:ln w="31750" cap="flat">
              <a:solidFill>
                <a:srgbClr val="21295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1295C"/>
              </a:solidFill>
              <a:ln w="9525" cap="flat">
                <a:solidFill>
                  <a:srgbClr val="21295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0.0001</c:v>
                </c:pt>
                <c:pt idx="1">
                  <c:v>2</c:v>
                </c:pt>
                <c:pt idx="2">
                  <c:v>8</c:v>
                </c:pt>
                <c:pt idx="3">
                  <c:v>15.509775004326936</c:v>
                </c:pt>
                <c:pt idx="4">
                  <c:v>24</c:v>
                </c:pt>
                <c:pt idx="5">
                  <c:v>33.219280948873624</c:v>
                </c:pt>
                <c:pt idx="6">
                  <c:v>43.01955000865387</c:v>
                </c:pt>
                <c:pt idx="7">
                  <c:v>53.302968908806456</c:v>
                </c:pt>
                <c:pt idx="8">
                  <c:v>64</c:v>
                </c:pt>
                <c:pt idx="9">
                  <c:v>75.05865002596161</c:v>
                </c:pt>
                <c:pt idx="10">
                  <c:v>86.43856189774725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O(n²)</c:v>
                </c:pt>
              </c:strCache>
            </c:strRef>
          </c:tx>
          <c:spPr>
            <a:solidFill>
              <a:srgbClr val="FF6B4A"/>
            </a:solidFill>
            <a:ln w="31750" cap="flat">
              <a:solidFill>
                <a:srgbClr val="FF6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FF6B4A"/>
              </a:solidFill>
              <a:ln w="9525" cap="flat">
                <a:solidFill>
                  <a:srgbClr val="FF6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</c:v>
                </c:pt>
                <c:pt idx="1">
                  <c:v>4</c:v>
                </c:pt>
                <c:pt idx="2">
                  <c:v>16</c:v>
                </c:pt>
                <c:pt idx="3">
                  <c:v>36</c:v>
                </c:pt>
                <c:pt idx="4">
                  <c:v>64</c:v>
                </c:pt>
                <c:pt idx="5">
                  <c:v>100</c:v>
                </c:pt>
                <c:pt idx="6">
                  <c:v>144</c:v>
                </c:pt>
                <c:pt idx="7">
                  <c:v>196</c:v>
                </c:pt>
                <c:pt idx="8">
                  <c:v>256</c:v>
                </c:pt>
                <c:pt idx="9">
                  <c:v>324</c:v>
                </c:pt>
                <c:pt idx="10">
                  <c:v>400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O(2ⁿ) (capped)</c:v>
                </c:pt>
              </c:strCache>
            </c:strRef>
          </c:tx>
          <c:spPr>
            <a:solidFill>
              <a:srgbClr val="990011"/>
            </a:solidFill>
            <a:ln w="31750" cap="flat">
              <a:solidFill>
                <a:srgbClr val="9900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90011"/>
              </a:solidFill>
              <a:ln w="9525" cap="flat">
                <a:solidFill>
                  <a:srgbClr val="9900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2</c:v>
                </c:pt>
                <c:pt idx="1">
                  <c:v>4</c:v>
                </c:pt>
                <c:pt idx="2">
                  <c:v>16</c:v>
                </c:pt>
                <c:pt idx="3">
                  <c:v>64</c:v>
                </c:pt>
                <c:pt idx="4">
                  <c:v>256</c:v>
                </c:pt>
                <c:pt idx="5">
                  <c:v>500</c:v>
                </c:pt>
                <c:pt idx="6">
                  <c:v>500</c:v>
                </c:pt>
                <c:pt idx="7">
                  <c:v>500</c:v>
                </c:pt>
                <c:pt idx="8">
                  <c:v>500</c:v>
                </c:pt>
                <c:pt idx="9">
                  <c:v>500</c:v>
                </c:pt>
                <c:pt idx="10">
                  <c:v>500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f(n)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Analyzing Growth Functions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Mathematical Comparison of O(log n), O(n), O(n log n), O(n²), and O(2ⁿ)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760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  •  CSA06  •  Design and Analysis of Algorithms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07040" y="9144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554480"/>
            <a:ext cx="228600" cy="2286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548640"/>
            <a:ext cx="182880" cy="182880"/>
          </a:xfrm>
          <a:prstGeom prst="ellipse">
            <a:avLst/>
          </a:prstGeom>
          <a:solidFill>
            <a:srgbClr val="FF6B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Compare Growth Functions?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830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functions describe how an algorithm's running time or space scales as input size n increases.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Algorithms Fairly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notation strips away hardware and constant-factor noise, letting us compare designs on structure alone.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2519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Algorithm Selection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46177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which growth class an algorithm belongs to tells us whether it will remain practical as data scales up.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Functions &amp; Algorithm Efficiency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Growth Functions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20574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O(log 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Binary search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7373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20574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8036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Linear scan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0" y="17373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205740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Linearithmic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Merge sort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0" y="17373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2057400"/>
            <a:ext cx="640080" cy="64008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O(n²)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4380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Bubble sort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75520" y="173736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607040" y="20574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O(2ⁿ)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7552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66960" y="4023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Subset enumeration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Functions &amp; Algorithm Efficiency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Behavior as Input Size Increases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1106424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Functions &amp; Algorithm Efficiency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Values at Increasing 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O(2ⁿ)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1,048,576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1.1e+9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1.1e+12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1.1e+15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O(2ⁿ) rockets past all other functions by n = 30 — at n = 50 it already exceeds a quadrillion operations.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Functions &amp; Algorithm Efficiency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Functions Stay Practical at Scale?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245C3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for Large 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6F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grows almost flat; doubling n adds one step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6F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scales directly with input, easy to reason about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C6F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practical ceiling for sorting/searching at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5C1E28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for Large 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C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usable for small/medium n, but doubling n quadruples work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C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O(2ⁿ)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explodes almost immediately; only viable for tiny n
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C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if n can be large, exponential and unoptimized quadratic algorithms should be avoided or redesigned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Functions &amp; Algorithm Efficiency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Growth Behavior to Algorithm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09728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fixed input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growth class works — optimize for simplicity and readability.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09728" cy="9144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unbounded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O(log n), O(n), or O(n log n) algorithms to keep runtime manageable.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109728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03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lookup tasks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114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divide-and-conquer or indexed structures (O(log n)) over linear scans when possible.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09728" cy="914400"/>
          </a:xfrm>
          <a:prstGeom prst="rect">
            <a:avLst/>
          </a:prstGeom>
          <a:solidFill>
            <a:srgbClr val="F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46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large datasets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257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algorithms like merge sort or heap sort outperform O(n²) options like bubble sort.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Functions &amp; Algorithm Efficiency  |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2412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Asymptotic growth functions reveal how algorithms truly scale, independent of hardware.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n), O(n), and O(n log n)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 efficient and practical even as input size grows very large.
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and O(2ⁿ)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bottlenecks quickly and should be avoided or replaced for large-scale problems.
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growth behavior is therefore essential to selecting the right algorithm for the right problem.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607040" y="914400"/>
            <a:ext cx="457200" cy="4572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" name="Shape 3"/>
          <p:cNvSpPr/>
          <p:nvPr/>
        </p:nvSpPr>
        <p:spPr>
          <a:xfrm>
            <a:off x="11247120" y="1554480"/>
            <a:ext cx="228600" cy="22860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548640"/>
            <a:ext cx="182880" cy="182880"/>
          </a:xfrm>
          <a:prstGeom prst="ellipse">
            <a:avLst/>
          </a:prstGeom>
          <a:solidFill>
            <a:srgbClr val="FF6B4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2026-07-20T05:29:15Z</dcterms:created>
  <dcterms:modified xsi:type="dcterms:W3CDTF">2026-07-20T05:29:15Z</dcterms:modified>
</cp:coreProperties>
</file>